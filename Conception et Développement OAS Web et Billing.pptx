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3" r:id="rId8"/>
    <p:sldId id="264" r:id="rId9"/>
    <p:sldId id="271" r:id="rId10"/>
    <p:sldId id="272" r:id="rId11"/>
    <p:sldId id="269" r:id="rId12"/>
    <p:sldId id="270" r:id="rId13"/>
    <p:sldId id="266" r:id="rId14"/>
    <p:sldId id="261" r:id="rId15"/>
    <p:sldId id="267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Neue Montreal" panose="020B0604020202020204" charset="0"/>
      <p:regular r:id="rId21"/>
    </p:embeddedFont>
    <p:embeddedFont>
      <p:font typeface="Neue Montreal Medium" panose="020B0604020202020204" charset="0"/>
      <p:regular r:id="rId22"/>
    </p:embeddedFont>
    <p:embeddedFont>
      <p:font typeface="Poppins" panose="00000500000000000000" pitchFamily="2" charset="0"/>
      <p:regular r:id="rId23"/>
      <p:bold r:id="rId24"/>
    </p:embeddedFont>
    <p:embeddedFont>
      <p:font typeface="Questrial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84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sv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982" y="388567"/>
            <a:ext cx="17526037" cy="9509865"/>
            <a:chOff x="0" y="0"/>
            <a:chExt cx="4615911" cy="2504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5911" cy="2504656"/>
            </a:xfrm>
            <a:custGeom>
              <a:avLst/>
              <a:gdLst/>
              <a:ahLst/>
              <a:cxnLst/>
              <a:rect l="l" t="t" r="r" b="b"/>
              <a:pathLst>
                <a:path w="4615911" h="2504656">
                  <a:moveTo>
                    <a:pt x="7068" y="0"/>
                  </a:moveTo>
                  <a:lnTo>
                    <a:pt x="4608843" y="0"/>
                  </a:lnTo>
                  <a:cubicBezTo>
                    <a:pt x="4612746" y="0"/>
                    <a:pt x="4615911" y="3164"/>
                    <a:pt x="4615911" y="7068"/>
                  </a:cubicBezTo>
                  <a:lnTo>
                    <a:pt x="4615911" y="2497588"/>
                  </a:lnTo>
                  <a:cubicBezTo>
                    <a:pt x="4615911" y="2501491"/>
                    <a:pt x="4612746" y="2504656"/>
                    <a:pt x="4608843" y="2504656"/>
                  </a:cubicBezTo>
                  <a:lnTo>
                    <a:pt x="7068" y="2504656"/>
                  </a:lnTo>
                  <a:cubicBezTo>
                    <a:pt x="3164" y="2504656"/>
                    <a:pt x="0" y="2501491"/>
                    <a:pt x="0" y="2497588"/>
                  </a:cubicBezTo>
                  <a:lnTo>
                    <a:pt x="0" y="7068"/>
                  </a:lnTo>
                  <a:cubicBezTo>
                    <a:pt x="0" y="3164"/>
                    <a:pt x="3164" y="0"/>
                    <a:pt x="70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5911" cy="254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87215" y="1008292"/>
            <a:ext cx="413879" cy="573419"/>
          </a:xfrm>
          <a:custGeom>
            <a:avLst/>
            <a:gdLst/>
            <a:ahLst/>
            <a:cxnLst/>
            <a:rect l="l" t="t" r="r" b="b"/>
            <a:pathLst>
              <a:path w="413879" h="573419">
                <a:moveTo>
                  <a:pt x="0" y="0"/>
                </a:moveTo>
                <a:lnTo>
                  <a:pt x="413879" y="0"/>
                </a:lnTo>
                <a:lnTo>
                  <a:pt x="413879" y="573420"/>
                </a:lnTo>
                <a:lnTo>
                  <a:pt x="0" y="573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99347" y="1027345"/>
            <a:ext cx="2584229" cy="526537"/>
          </a:xfrm>
          <a:custGeom>
            <a:avLst/>
            <a:gdLst/>
            <a:ahLst/>
            <a:cxnLst/>
            <a:rect l="l" t="t" r="r" b="b"/>
            <a:pathLst>
              <a:path w="2584229" h="526537">
                <a:moveTo>
                  <a:pt x="0" y="0"/>
                </a:moveTo>
                <a:lnTo>
                  <a:pt x="2584230" y="0"/>
                </a:lnTo>
                <a:lnTo>
                  <a:pt x="2584230" y="526536"/>
                </a:lnTo>
                <a:lnTo>
                  <a:pt x="0" y="526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60183" y="5459331"/>
            <a:ext cx="11171706" cy="3475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13"/>
              </a:lnSpc>
            </a:pPr>
            <a:r>
              <a:rPr lang="en-US" sz="4750" b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Conception et développement d'une application web de gestion intégrée et de facturation pour un garage automobile</a:t>
            </a:r>
          </a:p>
          <a:p>
            <a:pPr marL="0" lvl="0" indent="0" algn="l">
              <a:lnSpc>
                <a:spcPts val="4513"/>
              </a:lnSpc>
            </a:pPr>
            <a:r>
              <a:rPr lang="en-US" sz="4750" b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Cas de Orient Auto Service (OAS)</a:t>
            </a:r>
          </a:p>
          <a:p>
            <a:pPr marL="0" lvl="0" indent="0" algn="l">
              <a:lnSpc>
                <a:spcPts val="4513"/>
              </a:lnSpc>
            </a:pPr>
            <a:r>
              <a:rPr lang="en-US" sz="4750" b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Promouvants : [Noms des promoteurs]</a:t>
            </a:r>
          </a:p>
          <a:p>
            <a:pPr marL="0" lvl="0" indent="0" algn="l">
              <a:lnSpc>
                <a:spcPts val="4513"/>
              </a:lnSpc>
            </a:pPr>
            <a:r>
              <a:rPr lang="en-US" sz="4750" b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Encadreur : M. Birane Baïla WANE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13809" y="959260"/>
            <a:ext cx="2333672" cy="62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4"/>
              </a:lnSpc>
              <a:spcBef>
                <a:spcPct val="0"/>
              </a:spcBef>
            </a:pPr>
            <a:r>
              <a:rPr lang="en-US" sz="1802" b="1" spc="-73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ISM Dakar — Année académique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95605"/>
            <a:ext cx="7744001" cy="2430667"/>
            <a:chOff x="0" y="0"/>
            <a:chExt cx="2039572" cy="640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595605"/>
            <a:ext cx="7744001" cy="2430667"/>
            <a:chOff x="0" y="0"/>
            <a:chExt cx="2039572" cy="640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352955"/>
            <a:ext cx="7744001" cy="2430667"/>
            <a:chOff x="0" y="0"/>
            <a:chExt cx="2039572" cy="6401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6352955"/>
            <a:ext cx="7744001" cy="2430667"/>
            <a:chOff x="0" y="0"/>
            <a:chExt cx="2039572" cy="6401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8426390" cy="161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Présentation de Orient Auto Service (OAS)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78137" y="4256940"/>
            <a:ext cx="5645125" cy="116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Localisation</a:t>
            </a:r>
            <a:endParaRPr lang="en-US" sz="2800" b="1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Dakar, route de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Rufisque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,</a:t>
            </a:r>
          </a:p>
          <a:p>
            <a:pPr marL="0" lvl="0" indent="0" algn="ctr"/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Fondé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2008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5118" y="7101564"/>
            <a:ext cx="6051165" cy="116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Activités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principales</a:t>
            </a:r>
            <a:endParaRPr lang="en-US" sz="2800" b="1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  <a:p>
            <a:pPr marL="0" lvl="0" indent="0" algn="ctr"/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Mécanique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générale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tôlerie-peinture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et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entretien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spécialisé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14071" y="7101564"/>
            <a:ext cx="5403859" cy="116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Organisation</a:t>
            </a: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Super-agent, chef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d'atelier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,</a:t>
            </a:r>
          </a:p>
          <a:p>
            <a:pPr marL="0" lvl="0" indent="0" algn="ctr"/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mécaniciens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&amp;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accueil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471412" y="4344213"/>
            <a:ext cx="5089177" cy="116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Positionnement</a:t>
            </a: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Garage haut de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gamme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Service premium &amp;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qualité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69210" y="385308"/>
            <a:ext cx="11750166" cy="9468605"/>
            <a:chOff x="0" y="0"/>
            <a:chExt cx="3094694" cy="24937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4694" cy="2493789"/>
            </a:xfrm>
            <a:custGeom>
              <a:avLst/>
              <a:gdLst/>
              <a:ahLst/>
              <a:cxnLst/>
              <a:rect l="l" t="t" r="r" b="b"/>
              <a:pathLst>
                <a:path w="3094694" h="2493789">
                  <a:moveTo>
                    <a:pt x="9883" y="0"/>
                  </a:moveTo>
                  <a:lnTo>
                    <a:pt x="3084811" y="0"/>
                  </a:lnTo>
                  <a:cubicBezTo>
                    <a:pt x="3090269" y="0"/>
                    <a:pt x="3094694" y="4425"/>
                    <a:pt x="3094694" y="9883"/>
                  </a:cubicBezTo>
                  <a:lnTo>
                    <a:pt x="3094694" y="2483906"/>
                  </a:lnTo>
                  <a:cubicBezTo>
                    <a:pt x="3094694" y="2489364"/>
                    <a:pt x="3090269" y="2493789"/>
                    <a:pt x="3084811" y="2493789"/>
                  </a:cubicBezTo>
                  <a:lnTo>
                    <a:pt x="9883" y="2493789"/>
                  </a:lnTo>
                  <a:cubicBezTo>
                    <a:pt x="4425" y="2493789"/>
                    <a:pt x="0" y="2489364"/>
                    <a:pt x="0" y="2483906"/>
                  </a:cubicBezTo>
                  <a:lnTo>
                    <a:pt x="0" y="9883"/>
                  </a:lnTo>
                  <a:cubicBezTo>
                    <a:pt x="0" y="4425"/>
                    <a:pt x="4425" y="0"/>
                    <a:pt x="98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94694" cy="2531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133620" y="5119611"/>
            <a:ext cx="1182134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12044293" y="385308"/>
            <a:ext cx="0" cy="9468605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1918372" y="4993690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18372" y="259387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793455" y="4993690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18372" y="9727992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065349"/>
            <a:ext cx="436898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73"/>
              </a:lnSpc>
            </a:pPr>
            <a:r>
              <a:rPr lang="en-US" sz="5025" b="1" dirty="0" err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Contexte</a:t>
            </a:r>
            <a:endParaRPr lang="en-US" sz="5025" b="1" dirty="0">
              <a:solidFill>
                <a:srgbClr val="292626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7176" y="2675815"/>
            <a:ext cx="4368985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fr-FR" sz="2012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La transformation digitale devient un levier</a:t>
            </a:r>
          </a:p>
          <a:p>
            <a:pPr marL="0" lvl="0" indent="0" algn="l">
              <a:lnSpc>
                <a:spcPts val="2415"/>
              </a:lnSpc>
            </a:pPr>
            <a:r>
              <a:rPr lang="fr-FR" sz="2012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essentiel pour améliorer la performance des</a:t>
            </a:r>
          </a:p>
          <a:p>
            <a:pPr marL="0" lvl="0" indent="0" algn="l">
              <a:lnSpc>
                <a:spcPts val="2415"/>
              </a:lnSpc>
            </a:pPr>
            <a:r>
              <a:rPr lang="fr-FR" sz="2012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entreprises.</a:t>
            </a:r>
          </a:p>
          <a:p>
            <a:pPr marL="0" lvl="0" indent="0" algn="l">
              <a:lnSpc>
                <a:spcPts val="2415"/>
              </a:lnSpc>
            </a:pPr>
            <a:endParaRPr lang="fr-FR" sz="2012" dirty="0">
              <a:solidFill>
                <a:srgbClr val="292626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>
              <a:lnSpc>
                <a:spcPts val="2415"/>
              </a:lnSpc>
            </a:pPr>
            <a:r>
              <a:rPr lang="fr-FR" sz="2012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Malgré l'existence d'un système informatisé, OAS</a:t>
            </a:r>
          </a:p>
          <a:p>
            <a:pPr marL="0" lvl="0" indent="0" algn="l">
              <a:lnSpc>
                <a:spcPts val="2415"/>
              </a:lnSpc>
            </a:pPr>
            <a:r>
              <a:rPr lang="fr-FR" sz="2012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rencontre plusieurs difficultés dans la gestion</a:t>
            </a:r>
          </a:p>
          <a:p>
            <a:pPr marL="0" lvl="0" indent="0" algn="l">
              <a:lnSpc>
                <a:spcPts val="2415"/>
              </a:lnSpc>
            </a:pPr>
            <a:r>
              <a:rPr lang="fr-FR" sz="2012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quotidienne de ses activités.</a:t>
            </a:r>
          </a:p>
          <a:p>
            <a:pPr marL="0" lvl="0" indent="0" algn="l">
              <a:lnSpc>
                <a:spcPts val="2415"/>
              </a:lnSpc>
            </a:pPr>
            <a:endParaRPr lang="fr-FR" sz="2012" dirty="0">
              <a:solidFill>
                <a:srgbClr val="29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95605"/>
            <a:ext cx="7744001" cy="2430667"/>
            <a:chOff x="0" y="0"/>
            <a:chExt cx="2039572" cy="640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595605"/>
            <a:ext cx="7744001" cy="2430667"/>
            <a:chOff x="0" y="0"/>
            <a:chExt cx="2039572" cy="640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352955"/>
            <a:ext cx="7744001" cy="2430667"/>
            <a:chOff x="0" y="0"/>
            <a:chExt cx="2039572" cy="6401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6352955"/>
            <a:ext cx="7744001" cy="2430667"/>
            <a:chOff x="0" y="0"/>
            <a:chExt cx="2039572" cy="6401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8426390" cy="161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Diagnostic du système existant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3993959"/>
            <a:ext cx="6705600" cy="1169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/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Base de </a:t>
            </a:r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données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non </a:t>
            </a:r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normalisée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:</a:t>
            </a:r>
          </a:p>
          <a:p>
            <a:pPr marL="0" lvl="0" indent="0"/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Structure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fragmentée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redondances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incohérences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des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données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24000" y="6583403"/>
            <a:ext cx="6051165" cy="19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/>
            <a:r>
              <a:rPr lang="fr-FR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Interfaces peu ergonomiques et complexes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:</a:t>
            </a:r>
          </a:p>
          <a:p>
            <a:pPr marL="0" lvl="0" indent="0"/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Inventaire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imprécis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, ruptures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fréquentes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et rapports de gestion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inexacts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78281" y="6754309"/>
            <a:ext cx="5403859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/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Sécurité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insuffisante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:</a:t>
            </a:r>
          </a:p>
          <a:p>
            <a:pPr marL="0" lvl="0" indent="0"/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Accès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non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contrôlés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, absence de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sauvegarde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régulière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données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non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chiffrées</a:t>
            </a:r>
            <a:endParaRPr lang="en-US" sz="24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78281" y="3993959"/>
            <a:ext cx="7057119" cy="1169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/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Dépendances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mal </a:t>
            </a:r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gérées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:</a:t>
            </a:r>
          </a:p>
          <a:p>
            <a:pPr marL="0" lvl="0" indent="0"/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Couplage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fort entre modules, maintenance difficile et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risques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pannes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cascade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95605"/>
            <a:ext cx="16230600" cy="5094419"/>
            <a:chOff x="0" y="0"/>
            <a:chExt cx="2039572" cy="640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842639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 dirty="0" err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Problématique</a:t>
            </a:r>
            <a:endParaRPr lang="en-US" sz="6512" b="1" dirty="0">
              <a:solidFill>
                <a:srgbClr val="292626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9C415D0-9F35-429B-88F7-A1E545626799}"/>
              </a:ext>
            </a:extLst>
          </p:cNvPr>
          <p:cNvSpPr txBox="1"/>
          <p:nvPr/>
        </p:nvSpPr>
        <p:spPr>
          <a:xfrm>
            <a:off x="1676400" y="4711653"/>
            <a:ext cx="11963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Comment concevoir une solution intégrée,</a:t>
            </a:r>
          </a:p>
          <a:p>
            <a:r>
              <a:rPr lang="fr-FR" sz="360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moderne et sécurisée permettant d'améliorer la</a:t>
            </a:r>
          </a:p>
          <a:p>
            <a:r>
              <a:rPr lang="fr-FR" sz="360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fiabilité des données, d'automatiser les</a:t>
            </a:r>
          </a:p>
          <a:p>
            <a:r>
              <a:rPr lang="fr-FR" sz="360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processus métiers et d'optimiser la gestion</a:t>
            </a:r>
          </a:p>
          <a:p>
            <a:r>
              <a:rPr lang="fr-FR" sz="360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globale du garage OAS ?</a:t>
            </a:r>
          </a:p>
        </p:txBody>
      </p:sp>
    </p:spTree>
    <p:extLst>
      <p:ext uri="{BB962C8B-B14F-4D97-AF65-F5344CB8AC3E}">
        <p14:creationId xmlns:p14="http://schemas.microsoft.com/office/powerpoint/2010/main" val="8821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3716" y="385308"/>
            <a:ext cx="7580609" cy="9468605"/>
            <a:chOff x="0" y="0"/>
            <a:chExt cx="1996539" cy="24937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6539" cy="2493789"/>
            </a:xfrm>
            <a:custGeom>
              <a:avLst/>
              <a:gdLst/>
              <a:ahLst/>
              <a:cxnLst/>
              <a:rect l="l" t="t" r="r" b="b"/>
              <a:pathLst>
                <a:path w="1996539" h="2493789">
                  <a:moveTo>
                    <a:pt x="15319" y="0"/>
                  </a:moveTo>
                  <a:lnTo>
                    <a:pt x="1981220" y="0"/>
                  </a:lnTo>
                  <a:cubicBezTo>
                    <a:pt x="1985283" y="0"/>
                    <a:pt x="1989179" y="1614"/>
                    <a:pt x="1992052" y="4487"/>
                  </a:cubicBezTo>
                  <a:cubicBezTo>
                    <a:pt x="1994925" y="7360"/>
                    <a:pt x="1996539" y="11256"/>
                    <a:pt x="1996539" y="15319"/>
                  </a:cubicBezTo>
                  <a:lnTo>
                    <a:pt x="1996539" y="2478470"/>
                  </a:lnTo>
                  <a:cubicBezTo>
                    <a:pt x="1996539" y="2482533"/>
                    <a:pt x="1994925" y="2486429"/>
                    <a:pt x="1992052" y="2489302"/>
                  </a:cubicBezTo>
                  <a:cubicBezTo>
                    <a:pt x="1989179" y="2492175"/>
                    <a:pt x="1985283" y="2493789"/>
                    <a:pt x="1981220" y="2493789"/>
                  </a:cubicBezTo>
                  <a:lnTo>
                    <a:pt x="15319" y="2493789"/>
                  </a:lnTo>
                  <a:cubicBezTo>
                    <a:pt x="11256" y="2493789"/>
                    <a:pt x="7360" y="2492175"/>
                    <a:pt x="4487" y="2489302"/>
                  </a:cubicBezTo>
                  <a:cubicBezTo>
                    <a:pt x="1614" y="2486429"/>
                    <a:pt x="0" y="2482533"/>
                    <a:pt x="0" y="2478470"/>
                  </a:cubicBezTo>
                  <a:lnTo>
                    <a:pt x="0" y="15319"/>
                  </a:lnTo>
                  <a:cubicBezTo>
                    <a:pt x="0" y="11256"/>
                    <a:pt x="1614" y="7360"/>
                    <a:pt x="4487" y="4487"/>
                  </a:cubicBezTo>
                  <a:cubicBezTo>
                    <a:pt x="7360" y="1614"/>
                    <a:pt x="11256" y="0"/>
                    <a:pt x="153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96539" cy="2531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44655" y="2159319"/>
            <a:ext cx="7098981" cy="709898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31468" y="4332945"/>
            <a:ext cx="4925355" cy="49253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51096" y="6172200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4607883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 dirty="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Solution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64045" y="2640889"/>
            <a:ext cx="1660201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</a:pPr>
            <a:r>
              <a:rPr lang="en-US" sz="3750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Atouts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64045" y="4839900"/>
            <a:ext cx="1660201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</a:pPr>
            <a:r>
              <a:rPr lang="en-US" sz="3750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Risques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64045" y="6881347"/>
            <a:ext cx="1660201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</a:pPr>
            <a:r>
              <a:rPr lang="en-US" sz="3750" b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Solution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905375"/>
            <a:ext cx="6296025" cy="225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2455"/>
              </a:lnSpc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FFFFFF"/>
                </a:solidFill>
                <a:effectLst/>
                <a:latin typeface="Neue Montreal Medium" panose="020B0604020202020204" charset="0"/>
                <a:cs typeface="Poppins" panose="00000500000000000000" pitchFamily="2" charset="0"/>
              </a:rPr>
              <a:t>Centraliser</a:t>
            </a: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l'ensemble des données</a:t>
            </a:r>
          </a:p>
          <a:p>
            <a:pPr marL="342900" indent="-342900">
              <a:lnSpc>
                <a:spcPts val="2455"/>
              </a:lnSpc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Automatiser les processus métier</a:t>
            </a:r>
          </a:p>
          <a:p>
            <a:pPr marL="342900" indent="-342900">
              <a:lnSpc>
                <a:spcPts val="2455"/>
              </a:lnSpc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Améliorer la coordination entre les</a:t>
            </a:r>
            <a:br>
              <a:rPr lang="fr-FR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acteurs</a:t>
            </a:r>
          </a:p>
          <a:p>
            <a:pPr marL="342900" indent="-342900">
              <a:lnSpc>
                <a:spcPts val="2455"/>
              </a:lnSpc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Sécuriser les informations</a:t>
            </a:r>
            <a:endParaRPr lang="fr-FR" sz="2400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ts val="2455"/>
              </a:lnSpc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Offrir des services numériques aux</a:t>
            </a:r>
            <a:br>
              <a:rPr lang="fr-FR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fr-FR" sz="2400" b="0" i="0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clients</a:t>
            </a:r>
            <a:endParaRPr lang="fr-FR" sz="2400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477250" y="2739095"/>
            <a:ext cx="1999965" cy="30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7"/>
              </a:lnSpc>
            </a:pPr>
            <a:r>
              <a:rPr lang="en-US" sz="2217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Forces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77250" y="5105740"/>
            <a:ext cx="1999965" cy="30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7"/>
              </a:lnSpc>
            </a:pPr>
            <a:r>
              <a:rPr lang="en-US" sz="2217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Faiblesses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77250" y="7232502"/>
            <a:ext cx="1999965" cy="30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7"/>
              </a:lnSpc>
            </a:pPr>
            <a:r>
              <a:rPr lang="en-US" sz="2217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Opportunités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477250" y="3139364"/>
            <a:ext cx="3182795" cy="0"/>
          </a:xfrm>
          <a:prstGeom prst="line">
            <a:avLst/>
          </a:pr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8477250" y="5505154"/>
            <a:ext cx="3526618" cy="0"/>
          </a:xfrm>
          <a:prstGeom prst="line">
            <a:avLst/>
          </a:pr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flipV="1">
            <a:off x="8477250" y="7631917"/>
            <a:ext cx="4338000" cy="0"/>
          </a:xfrm>
          <a:prstGeom prst="line">
            <a:avLst/>
          </a:pr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95605"/>
            <a:ext cx="7744001" cy="2430667"/>
            <a:chOff x="0" y="0"/>
            <a:chExt cx="2039572" cy="640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595605"/>
            <a:ext cx="7744001" cy="2430667"/>
            <a:chOff x="0" y="0"/>
            <a:chExt cx="2039572" cy="640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352955"/>
            <a:ext cx="7744001" cy="2430667"/>
            <a:chOff x="0" y="0"/>
            <a:chExt cx="2039572" cy="6401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6352955"/>
            <a:ext cx="7744001" cy="2430667"/>
            <a:chOff x="0" y="0"/>
            <a:chExt cx="2039572" cy="6401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8426390" cy="8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Choix technologiques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78137" y="4410828"/>
            <a:ext cx="5645125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Angular</a:t>
            </a:r>
            <a:endParaRPr lang="en-US" sz="2400" b="1" dirty="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Frontend web – Architecture MVVM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5116" y="7091128"/>
            <a:ext cx="6051165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Spring Boot</a:t>
            </a:r>
            <a:endParaRPr lang="en-US" sz="2400" b="1" dirty="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Backend </a:t>
            </a:r>
            <a:r>
              <a:rPr lang="en-US" sz="2400" dirty="0" err="1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sécurisé</a:t>
            </a:r>
            <a:r>
              <a:rPr lang="en-US" sz="2400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– APIs REST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14070" y="7091127"/>
            <a:ext cx="5403859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PostgreSQL - Neon</a:t>
            </a: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Base de </a:t>
            </a:r>
            <a:r>
              <a:rPr lang="en-US" sz="2400" dirty="0" err="1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données</a:t>
            </a:r>
            <a:r>
              <a:rPr lang="en-US" sz="2400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cloud – ACID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71410" y="4410827"/>
            <a:ext cx="5089177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Flutter</a:t>
            </a:r>
            <a:endParaRPr lang="en-US" sz="2400" b="1" dirty="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ctr"/>
            <a:r>
              <a:rPr lang="en-US" sz="2400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Application mobile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050" name="Picture 2" descr="Logo Angular PNG transparents - StickPNG">
            <a:extLst>
              <a:ext uri="{FF2B5EF4-FFF2-40B4-BE49-F238E27FC236}">
                <a16:creationId xmlns:a16="http://schemas.microsoft.com/office/drawing/2014/main" id="{F1FD553D-4865-41BB-B125-B3A3C1E33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793" y="4116394"/>
            <a:ext cx="1174090" cy="124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rand">
            <a:extLst>
              <a:ext uri="{FF2B5EF4-FFF2-40B4-BE49-F238E27FC236}">
                <a16:creationId xmlns:a16="http://schemas.microsoft.com/office/drawing/2014/main" id="{575FDBB4-AAE8-4FC1-9A12-519E4E49D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319" y="4038777"/>
            <a:ext cx="1058143" cy="154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pring-boot-logo - Atomrace">
            <a:extLst>
              <a:ext uri="{FF2B5EF4-FFF2-40B4-BE49-F238E27FC236}">
                <a16:creationId xmlns:a16="http://schemas.microsoft.com/office/drawing/2014/main" id="{43AA3218-573E-45A4-819B-9AB177365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84" y="6711198"/>
            <a:ext cx="2247900" cy="11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PostgreSQL Icon SVG Vector &amp; PNG Free Download | UXWing">
            <a:extLst>
              <a:ext uri="{FF2B5EF4-FFF2-40B4-BE49-F238E27FC236}">
                <a16:creationId xmlns:a16="http://schemas.microsoft.com/office/drawing/2014/main" id="{AC3C10EA-CC21-4526-9D91-DD92FDA8F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2509" y="6705676"/>
            <a:ext cx="1147762" cy="118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Neon annonce le lancement d'une solution Postgres conviviale multicloud et entièrement gérée pour les développeurs">
            <a:extLst>
              <a:ext uri="{FF2B5EF4-FFF2-40B4-BE49-F238E27FC236}">
                <a16:creationId xmlns:a16="http://schemas.microsoft.com/office/drawing/2014/main" id="{C8092505-41C4-47E2-9E4D-424F99D9F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570" y="7843957"/>
            <a:ext cx="1526000" cy="80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3716" y="385308"/>
            <a:ext cx="7580609" cy="9468605"/>
            <a:chOff x="0" y="0"/>
            <a:chExt cx="1996539" cy="24937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6539" cy="2493789"/>
            </a:xfrm>
            <a:custGeom>
              <a:avLst/>
              <a:gdLst/>
              <a:ahLst/>
              <a:cxnLst/>
              <a:rect l="l" t="t" r="r" b="b"/>
              <a:pathLst>
                <a:path w="1996539" h="2493789">
                  <a:moveTo>
                    <a:pt x="15319" y="0"/>
                  </a:moveTo>
                  <a:lnTo>
                    <a:pt x="1981220" y="0"/>
                  </a:lnTo>
                  <a:cubicBezTo>
                    <a:pt x="1985283" y="0"/>
                    <a:pt x="1989179" y="1614"/>
                    <a:pt x="1992052" y="4487"/>
                  </a:cubicBezTo>
                  <a:cubicBezTo>
                    <a:pt x="1994925" y="7360"/>
                    <a:pt x="1996539" y="11256"/>
                    <a:pt x="1996539" y="15319"/>
                  </a:cubicBezTo>
                  <a:lnTo>
                    <a:pt x="1996539" y="2478470"/>
                  </a:lnTo>
                  <a:cubicBezTo>
                    <a:pt x="1996539" y="2482533"/>
                    <a:pt x="1994925" y="2486429"/>
                    <a:pt x="1992052" y="2489302"/>
                  </a:cubicBezTo>
                  <a:cubicBezTo>
                    <a:pt x="1989179" y="2492175"/>
                    <a:pt x="1985283" y="2493789"/>
                    <a:pt x="1981220" y="2493789"/>
                  </a:cubicBezTo>
                  <a:lnTo>
                    <a:pt x="15319" y="2493789"/>
                  </a:lnTo>
                  <a:cubicBezTo>
                    <a:pt x="11256" y="2493789"/>
                    <a:pt x="7360" y="2492175"/>
                    <a:pt x="4487" y="2489302"/>
                  </a:cubicBezTo>
                  <a:cubicBezTo>
                    <a:pt x="1614" y="2486429"/>
                    <a:pt x="0" y="2482533"/>
                    <a:pt x="0" y="2478470"/>
                  </a:cubicBezTo>
                  <a:lnTo>
                    <a:pt x="0" y="15319"/>
                  </a:lnTo>
                  <a:cubicBezTo>
                    <a:pt x="0" y="11256"/>
                    <a:pt x="1614" y="7360"/>
                    <a:pt x="4487" y="4487"/>
                  </a:cubicBezTo>
                  <a:cubicBezTo>
                    <a:pt x="7360" y="1614"/>
                    <a:pt x="11256" y="0"/>
                    <a:pt x="153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96539" cy="2531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44655" y="2159319"/>
            <a:ext cx="7098981" cy="709898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31468" y="4332945"/>
            <a:ext cx="4925355" cy="49253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51096" y="6172200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4838700" cy="161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 dirty="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Architecture </a:t>
            </a:r>
            <a:r>
              <a:rPr lang="en-US" sz="6512" b="1" dirty="0" err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globale</a:t>
            </a:r>
            <a:endParaRPr lang="en-US" sz="6512" b="1" dirty="0">
              <a:solidFill>
                <a:srgbClr val="FFFFFF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82367" y="2583661"/>
            <a:ext cx="1823555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5"/>
              </a:lnSpc>
            </a:pPr>
            <a:r>
              <a:rPr lang="en-US" sz="2426" b="1" dirty="0" err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Présentation</a:t>
            </a:r>
            <a:endParaRPr lang="en-US" sz="2426" b="1" dirty="0">
              <a:solidFill>
                <a:srgbClr val="292626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64045" y="4801800"/>
            <a:ext cx="1660201" cy="3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5"/>
              </a:lnSpc>
            </a:pPr>
            <a:r>
              <a:rPr lang="en-US" sz="2426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Métier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64045" y="6843247"/>
            <a:ext cx="1660201" cy="3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5"/>
              </a:lnSpc>
            </a:pPr>
            <a:r>
              <a:rPr lang="en-US" sz="2426" b="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Données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914900"/>
            <a:ext cx="629602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9"/>
              </a:lnSpc>
            </a:pPr>
            <a:r>
              <a:rPr lang="en-US" sz="1833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Une architecture 3 tiers claire et modulaire, conçue pour la performance et la maintenabilité.</a:t>
            </a:r>
          </a:p>
          <a:p>
            <a:pPr marL="0" lvl="0" indent="0" algn="l">
              <a:lnSpc>
                <a:spcPts val="2199"/>
              </a:lnSpc>
            </a:pPr>
            <a:r>
              <a:rPr lang="en-US" sz="1833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Chaque couche est indépendante et communique via des API REST sécurisées avec JWT.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77250" y="2748620"/>
            <a:ext cx="1999965" cy="25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5"/>
              </a:lnSpc>
            </a:pPr>
            <a:r>
              <a:rPr lang="en-US" sz="1985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Angular / Flutter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5800" y="5115265"/>
            <a:ext cx="2171415" cy="259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85"/>
              </a:lnSpc>
            </a:pPr>
            <a:r>
              <a:rPr lang="en-US" sz="1985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Spring Boot REST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77250" y="7242027"/>
            <a:ext cx="2234591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85"/>
              </a:lnSpc>
            </a:pPr>
            <a:r>
              <a:rPr lang="en-US" sz="1985" dirty="0">
                <a:solidFill>
                  <a:srgbClr val="292626"/>
                </a:solidFill>
                <a:latin typeface="Questrial"/>
                <a:ea typeface="Questrial"/>
                <a:cs typeface="Questrial"/>
                <a:sym typeface="Questrial"/>
              </a:rPr>
              <a:t>PostgreSQL - Neon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477250" y="3139364"/>
            <a:ext cx="3182795" cy="0"/>
          </a:xfrm>
          <a:prstGeom prst="line">
            <a:avLst/>
          </a:pr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8477250" y="5505154"/>
            <a:ext cx="3526618" cy="0"/>
          </a:xfrm>
          <a:prstGeom prst="line">
            <a:avLst/>
          </a:pr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flipV="1">
            <a:off x="8477250" y="7631917"/>
            <a:ext cx="4338000" cy="0"/>
          </a:xfrm>
          <a:prstGeom prst="line">
            <a:avLst/>
          </a:pr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" descr="Logo Angular PNG transparents - StickPNG">
            <a:extLst>
              <a:ext uri="{FF2B5EF4-FFF2-40B4-BE49-F238E27FC236}">
                <a16:creationId xmlns:a16="http://schemas.microsoft.com/office/drawing/2014/main" id="{9CB5390A-A21F-4C0C-A6F5-A5CB0D4A6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519" y="1936933"/>
            <a:ext cx="509481" cy="54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spring-boot-logo - Atomrace">
            <a:extLst>
              <a:ext uri="{FF2B5EF4-FFF2-40B4-BE49-F238E27FC236}">
                <a16:creationId xmlns:a16="http://schemas.microsoft.com/office/drawing/2014/main" id="{4C33CE35-9E1E-4BFD-8349-B5CA285DE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077" y="4452836"/>
            <a:ext cx="1315546" cy="69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PostgreSQL Icon SVG Vector &amp; PNG Free Download | UXWing">
            <a:extLst>
              <a:ext uri="{FF2B5EF4-FFF2-40B4-BE49-F238E27FC236}">
                <a16:creationId xmlns:a16="http://schemas.microsoft.com/office/drawing/2014/main" id="{A49EF787-2509-426F-BF34-D4ADACC00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333" y="6437673"/>
            <a:ext cx="599746" cy="61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0" descr="Neon annonce le lancement d'une solution Postgres conviviale multicloud et entièrement gérée pour les développeurs">
            <a:extLst>
              <a:ext uri="{FF2B5EF4-FFF2-40B4-BE49-F238E27FC236}">
                <a16:creationId xmlns:a16="http://schemas.microsoft.com/office/drawing/2014/main" id="{ED29F143-CA9F-4138-81F8-21C084546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283" y="6524089"/>
            <a:ext cx="705779" cy="37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Brand">
            <a:extLst>
              <a:ext uri="{FF2B5EF4-FFF2-40B4-BE49-F238E27FC236}">
                <a16:creationId xmlns:a16="http://schemas.microsoft.com/office/drawing/2014/main" id="{73B226A4-619F-4B84-8426-8001D581B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8388" y="1881388"/>
            <a:ext cx="504623" cy="736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982" y="388567"/>
            <a:ext cx="17526037" cy="9509865"/>
            <a:chOff x="0" y="0"/>
            <a:chExt cx="4615911" cy="2504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5911" cy="2504656"/>
            </a:xfrm>
            <a:custGeom>
              <a:avLst/>
              <a:gdLst/>
              <a:ahLst/>
              <a:cxnLst/>
              <a:rect l="l" t="t" r="r" b="b"/>
              <a:pathLst>
                <a:path w="4615911" h="2504656">
                  <a:moveTo>
                    <a:pt x="7068" y="0"/>
                  </a:moveTo>
                  <a:lnTo>
                    <a:pt x="4608843" y="0"/>
                  </a:lnTo>
                  <a:cubicBezTo>
                    <a:pt x="4612746" y="0"/>
                    <a:pt x="4615911" y="3164"/>
                    <a:pt x="4615911" y="7068"/>
                  </a:cubicBezTo>
                  <a:lnTo>
                    <a:pt x="4615911" y="2497588"/>
                  </a:lnTo>
                  <a:cubicBezTo>
                    <a:pt x="4615911" y="2501491"/>
                    <a:pt x="4612746" y="2504656"/>
                    <a:pt x="4608843" y="2504656"/>
                  </a:cubicBezTo>
                  <a:lnTo>
                    <a:pt x="7068" y="2504656"/>
                  </a:lnTo>
                  <a:cubicBezTo>
                    <a:pt x="3164" y="2504656"/>
                    <a:pt x="0" y="2501491"/>
                    <a:pt x="0" y="2497588"/>
                  </a:cubicBezTo>
                  <a:lnTo>
                    <a:pt x="0" y="7068"/>
                  </a:lnTo>
                  <a:cubicBezTo>
                    <a:pt x="0" y="3164"/>
                    <a:pt x="3164" y="0"/>
                    <a:pt x="70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5911" cy="254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3644" y="2420479"/>
            <a:ext cx="3111840" cy="2763835"/>
            <a:chOff x="0" y="0"/>
            <a:chExt cx="1084781" cy="7279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90829" y="2166669"/>
            <a:ext cx="3205055" cy="2763835"/>
            <a:chOff x="0" y="0"/>
            <a:chExt cx="1084781" cy="7279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54628" y="6780937"/>
            <a:ext cx="4118778" cy="2763835"/>
            <a:chOff x="0" y="0"/>
            <a:chExt cx="1084781" cy="7279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1017724"/>
            <a:ext cx="1030494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2"/>
              </a:lnSpc>
            </a:pPr>
            <a:r>
              <a:rPr lang="en-US" sz="3613" b="1" dirty="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Architecture Frontend Angular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6247" y="2862120"/>
            <a:ext cx="2866634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4102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Interface </a:t>
            </a:r>
            <a:r>
              <a:rPr lang="en-US" sz="4102" dirty="0" err="1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utilisateur</a:t>
            </a:r>
            <a:endParaRPr lang="en-US" sz="4102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  <a:p>
            <a:pPr marL="0" lvl="0" indent="0" algn="ctr">
              <a:lnSpc>
                <a:spcPts val="3897"/>
              </a:lnSpc>
            </a:pPr>
            <a:endParaRPr lang="en-US" sz="4102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  <a:p>
            <a:pPr marL="0" lvl="0" indent="0" algn="ctr">
              <a:lnSpc>
                <a:spcPts val="3897"/>
              </a:lnSpc>
            </a:pPr>
            <a:r>
              <a:rPr lang="en-US" sz="4102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38357" y="3253065"/>
            <a:ext cx="4521798" cy="2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9"/>
              </a:lnSpc>
            </a:pPr>
            <a:r>
              <a:rPr lang="en-US" sz="3200" b="1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Data Binding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24252" y="7408473"/>
            <a:ext cx="452179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000" b="1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 / HTTPS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83101" y="6483201"/>
            <a:ext cx="4521798" cy="25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9"/>
              </a:lnSpc>
            </a:pPr>
            <a:r>
              <a:rPr lang="en-US" sz="36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Couche métier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77813" y="2548312"/>
            <a:ext cx="2433739" cy="196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200" dirty="0" err="1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Logique</a:t>
            </a: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de presentation</a:t>
            </a:r>
          </a:p>
          <a:p>
            <a:pPr marL="0" lvl="0" indent="0" algn="ctr">
              <a:lnSpc>
                <a:spcPts val="3897"/>
              </a:lnSpc>
            </a:pPr>
            <a:endParaRPr lang="en-US" sz="3200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  <a:p>
            <a:pPr marL="0" lvl="0" indent="0" algn="ctr">
              <a:lnSpc>
                <a:spcPts val="3897"/>
              </a:lnSpc>
            </a:pP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VIEWMODEL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5875" y="8714931"/>
            <a:ext cx="4521798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6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Backend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Logo Angular PNG transparents - StickPNG">
            <a:extLst>
              <a:ext uri="{FF2B5EF4-FFF2-40B4-BE49-F238E27FC236}">
                <a16:creationId xmlns:a16="http://schemas.microsoft.com/office/drawing/2014/main" id="{6F416E2A-1C28-434C-9A54-EF1F116EF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754" y="701770"/>
            <a:ext cx="955489" cy="101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9">
            <a:extLst>
              <a:ext uri="{FF2B5EF4-FFF2-40B4-BE49-F238E27FC236}">
                <a16:creationId xmlns:a16="http://schemas.microsoft.com/office/drawing/2014/main" id="{F36C6316-2875-42E1-9D1D-A61F5705057F}"/>
              </a:ext>
            </a:extLst>
          </p:cNvPr>
          <p:cNvGrpSpPr/>
          <p:nvPr/>
        </p:nvGrpSpPr>
        <p:grpSpPr>
          <a:xfrm>
            <a:off x="11887200" y="6483201"/>
            <a:ext cx="2741970" cy="2763835"/>
            <a:chOff x="0" y="0"/>
            <a:chExt cx="1084781" cy="727924"/>
          </a:xfrm>
        </p:grpSpPr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AAB89B63-3352-4BEA-AA21-B6FDCED2730A}"/>
                </a:ext>
              </a:extLst>
            </p:cNvPr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F5C8B663-B07F-4DBC-B3D6-847C341FBA4B}"/>
                </a:ext>
              </a:extLst>
            </p:cNvPr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0">
            <a:extLst>
              <a:ext uri="{FF2B5EF4-FFF2-40B4-BE49-F238E27FC236}">
                <a16:creationId xmlns:a16="http://schemas.microsoft.com/office/drawing/2014/main" id="{E4E8A98F-5588-41DF-B99B-47FC86053DD6}"/>
              </a:ext>
            </a:extLst>
          </p:cNvPr>
          <p:cNvSpPr txBox="1"/>
          <p:nvPr/>
        </p:nvSpPr>
        <p:spPr>
          <a:xfrm>
            <a:off x="12272858" y="6618173"/>
            <a:ext cx="1970654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Gestion des </a:t>
            </a:r>
            <a:r>
              <a:rPr lang="en-US" sz="3200" dirty="0" err="1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données</a:t>
            </a:r>
            <a:endParaRPr lang="en-US" sz="3200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  <a:p>
            <a:pPr marL="0" lvl="0" indent="0" algn="ctr">
              <a:lnSpc>
                <a:spcPts val="3897"/>
              </a:lnSpc>
            </a:pPr>
            <a:endParaRPr lang="en-US" sz="3200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  <a:p>
            <a:pPr marL="0" lvl="0" indent="0" algn="ctr">
              <a:lnSpc>
                <a:spcPts val="3897"/>
              </a:lnSpc>
            </a:pP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MODEL</a:t>
            </a:r>
          </a:p>
        </p:txBody>
      </p:sp>
      <p:pic>
        <p:nvPicPr>
          <p:cNvPr id="37" name="Picture 6" descr="spring-boot-logo - Atomrace">
            <a:extLst>
              <a:ext uri="{FF2B5EF4-FFF2-40B4-BE49-F238E27FC236}">
                <a16:creationId xmlns:a16="http://schemas.microsoft.com/office/drawing/2014/main" id="{0E97BDAB-B776-49A1-B87B-A2D5CEF01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871" y="7281713"/>
            <a:ext cx="2541806" cy="133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5C2C322-C085-473B-83D6-57E190710A6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3795484" y="3476256"/>
            <a:ext cx="8095345" cy="253810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DA3441A0-B638-417F-9615-A76D9906D9CC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3258185" y="4930504"/>
            <a:ext cx="235172" cy="1521694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BABE3ABC-0372-4770-8A2E-04ECBA4D02D1}"/>
              </a:ext>
            </a:extLst>
          </p:cNvPr>
          <p:cNvCxnSpPr>
            <a:cxnSpLocks/>
          </p:cNvCxnSpPr>
          <p:nvPr/>
        </p:nvCxnSpPr>
        <p:spPr>
          <a:xfrm flipH="1">
            <a:off x="6273406" y="7792788"/>
            <a:ext cx="5613794" cy="378939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535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982" y="388567"/>
            <a:ext cx="17526037" cy="9509865"/>
            <a:chOff x="0" y="0"/>
            <a:chExt cx="4615911" cy="2504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5911" cy="2504656"/>
            </a:xfrm>
            <a:custGeom>
              <a:avLst/>
              <a:gdLst/>
              <a:ahLst/>
              <a:cxnLst/>
              <a:rect l="l" t="t" r="r" b="b"/>
              <a:pathLst>
                <a:path w="4615911" h="2504656">
                  <a:moveTo>
                    <a:pt x="7068" y="0"/>
                  </a:moveTo>
                  <a:lnTo>
                    <a:pt x="4608843" y="0"/>
                  </a:lnTo>
                  <a:cubicBezTo>
                    <a:pt x="4612746" y="0"/>
                    <a:pt x="4615911" y="3164"/>
                    <a:pt x="4615911" y="7068"/>
                  </a:cubicBezTo>
                  <a:lnTo>
                    <a:pt x="4615911" y="2497588"/>
                  </a:lnTo>
                  <a:cubicBezTo>
                    <a:pt x="4615911" y="2501491"/>
                    <a:pt x="4612746" y="2504656"/>
                    <a:pt x="4608843" y="2504656"/>
                  </a:cubicBezTo>
                  <a:lnTo>
                    <a:pt x="7068" y="2504656"/>
                  </a:lnTo>
                  <a:cubicBezTo>
                    <a:pt x="3164" y="2504656"/>
                    <a:pt x="0" y="2501491"/>
                    <a:pt x="0" y="2497588"/>
                  </a:cubicBezTo>
                  <a:lnTo>
                    <a:pt x="0" y="7068"/>
                  </a:lnTo>
                  <a:cubicBezTo>
                    <a:pt x="0" y="3164"/>
                    <a:pt x="3164" y="0"/>
                    <a:pt x="70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5911" cy="254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3644" y="2420479"/>
            <a:ext cx="2508472" cy="2763835"/>
            <a:chOff x="0" y="0"/>
            <a:chExt cx="1084781" cy="7279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24295" y="2874068"/>
            <a:ext cx="3205055" cy="1781791"/>
            <a:chOff x="0" y="0"/>
            <a:chExt cx="1084781" cy="7279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54628" y="6780937"/>
            <a:ext cx="4118778" cy="2763835"/>
            <a:chOff x="0" y="0"/>
            <a:chExt cx="1084781" cy="7279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1017724"/>
            <a:ext cx="1030494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2"/>
              </a:lnSpc>
            </a:pPr>
            <a:r>
              <a:rPr lang="en-US" sz="3613" b="1" dirty="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Architecture Backend Spring Boot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81475" y="3130615"/>
            <a:ext cx="4521798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2800" b="1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 / HTTPS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03273" y="3474917"/>
            <a:ext cx="2818071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CONTROLLERS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5875" y="8714931"/>
            <a:ext cx="4521798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6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Base de </a:t>
            </a:r>
            <a:r>
              <a:rPr lang="en-US" sz="3600" dirty="0" err="1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données</a:t>
            </a:r>
            <a:endParaRPr lang="en-US" sz="3600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Logo Angular PNG transparents - StickPNG">
            <a:extLst>
              <a:ext uri="{FF2B5EF4-FFF2-40B4-BE49-F238E27FC236}">
                <a16:creationId xmlns:a16="http://schemas.microsoft.com/office/drawing/2014/main" id="{6F416E2A-1C28-434C-9A54-EF1F116EF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49" y="2789666"/>
            <a:ext cx="955489" cy="101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9">
            <a:extLst>
              <a:ext uri="{FF2B5EF4-FFF2-40B4-BE49-F238E27FC236}">
                <a16:creationId xmlns:a16="http://schemas.microsoft.com/office/drawing/2014/main" id="{F36C6316-2875-42E1-9D1D-A61F5705057F}"/>
              </a:ext>
            </a:extLst>
          </p:cNvPr>
          <p:cNvGrpSpPr/>
          <p:nvPr/>
        </p:nvGrpSpPr>
        <p:grpSpPr>
          <a:xfrm>
            <a:off x="13115999" y="6205431"/>
            <a:ext cx="3205055" cy="1587357"/>
            <a:chOff x="0" y="0"/>
            <a:chExt cx="1084781" cy="727924"/>
          </a:xfrm>
        </p:grpSpPr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AAB89B63-3352-4BEA-AA21-B6FDCED2730A}"/>
                </a:ext>
              </a:extLst>
            </p:cNvPr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F5C8B663-B07F-4DBC-B3D6-847C341FBA4B}"/>
                </a:ext>
              </a:extLst>
            </p:cNvPr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0">
            <a:extLst>
              <a:ext uri="{FF2B5EF4-FFF2-40B4-BE49-F238E27FC236}">
                <a16:creationId xmlns:a16="http://schemas.microsoft.com/office/drawing/2014/main" id="{E4E8A98F-5588-41DF-B99B-47FC86053DD6}"/>
              </a:ext>
            </a:extLst>
          </p:cNvPr>
          <p:cNvSpPr txBox="1"/>
          <p:nvPr/>
        </p:nvSpPr>
        <p:spPr>
          <a:xfrm>
            <a:off x="13447146" y="6742759"/>
            <a:ext cx="2542759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REPOSITORY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5C2C322-C085-473B-83D6-57E190710A6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3192116" y="3718334"/>
            <a:ext cx="4032179" cy="11732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DA3441A0-B638-417F-9615-A76D9906D9CC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10429350" y="3733715"/>
            <a:ext cx="2686649" cy="48893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BABE3ABC-0372-4770-8A2E-04ECBA4D02D1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6273406" y="6957568"/>
            <a:ext cx="6842593" cy="1214159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Brand">
            <a:extLst>
              <a:ext uri="{FF2B5EF4-FFF2-40B4-BE49-F238E27FC236}">
                <a16:creationId xmlns:a16="http://schemas.microsoft.com/office/drawing/2014/main" id="{C8042F97-0AF1-453D-B872-562A4C3F6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322" y="3474442"/>
            <a:ext cx="820029" cy="119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9">
            <a:extLst>
              <a:ext uri="{FF2B5EF4-FFF2-40B4-BE49-F238E27FC236}">
                <a16:creationId xmlns:a16="http://schemas.microsoft.com/office/drawing/2014/main" id="{C10F9BE6-8D6D-4E07-B871-3E400BD9F9E1}"/>
              </a:ext>
            </a:extLst>
          </p:cNvPr>
          <p:cNvGrpSpPr/>
          <p:nvPr/>
        </p:nvGrpSpPr>
        <p:grpSpPr>
          <a:xfrm>
            <a:off x="13115999" y="2889449"/>
            <a:ext cx="3205055" cy="1781791"/>
            <a:chOff x="0" y="0"/>
            <a:chExt cx="1084781" cy="727924"/>
          </a:xfrm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845B0982-94BE-466F-B66E-B1AB21081D53}"/>
                </a:ext>
              </a:extLst>
            </p:cNvPr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9820BC92-4FCF-414F-BC2C-E242B0351AF0}"/>
                </a:ext>
              </a:extLst>
            </p:cNvPr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20">
            <a:extLst>
              <a:ext uri="{FF2B5EF4-FFF2-40B4-BE49-F238E27FC236}">
                <a16:creationId xmlns:a16="http://schemas.microsoft.com/office/drawing/2014/main" id="{6BD9EA5B-6049-48D5-B98B-381D86334E10}"/>
              </a:ext>
            </a:extLst>
          </p:cNvPr>
          <p:cNvSpPr txBox="1"/>
          <p:nvPr/>
        </p:nvSpPr>
        <p:spPr>
          <a:xfrm>
            <a:off x="13294977" y="3490298"/>
            <a:ext cx="2818071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SERVICE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899D2A32-849F-45E8-AA20-0BDD042B2402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14718527" y="4671240"/>
            <a:ext cx="0" cy="1557883"/>
          </a:xfrm>
          <a:prstGeom prst="straightConnector1">
            <a:avLst/>
          </a:prstGeom>
          <a:ln w="857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8" descr="PostgreSQL Icon SVG Vector &amp; PNG Free Download | UXWing">
            <a:extLst>
              <a:ext uri="{FF2B5EF4-FFF2-40B4-BE49-F238E27FC236}">
                <a16:creationId xmlns:a16="http://schemas.microsoft.com/office/drawing/2014/main" id="{D0A359B6-E64E-4AAD-8FE7-DDD98EABD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01" y="7240650"/>
            <a:ext cx="1164846" cy="120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Neon annonce le lancement d'une solution Postgres conviviale multicloud et entièrement gérée pour les développeurs">
            <a:extLst>
              <a:ext uri="{FF2B5EF4-FFF2-40B4-BE49-F238E27FC236}">
                <a16:creationId xmlns:a16="http://schemas.microsoft.com/office/drawing/2014/main" id="{CD653CD3-71B1-4FAF-B5BA-D67286EA8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19" y="7365090"/>
            <a:ext cx="1370787" cy="7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spring-boot-logo - Atomrace">
            <a:extLst>
              <a:ext uri="{FF2B5EF4-FFF2-40B4-BE49-F238E27FC236}">
                <a16:creationId xmlns:a16="http://schemas.microsoft.com/office/drawing/2014/main" id="{30067BD0-97B2-44DB-B35A-CA159EBA9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3799" y="643667"/>
            <a:ext cx="2541806" cy="133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BCD13F4-5E03-483D-A59C-5F17E87455CA}"/>
              </a:ext>
            </a:extLst>
          </p:cNvPr>
          <p:cNvSpPr/>
          <p:nvPr/>
        </p:nvSpPr>
        <p:spPr>
          <a:xfrm>
            <a:off x="7082045" y="2494212"/>
            <a:ext cx="9758155" cy="6220719"/>
          </a:xfrm>
          <a:prstGeom prst="rect">
            <a:avLst/>
          </a:prstGeom>
          <a:solidFill>
            <a:srgbClr val="6DB33F">
              <a:alpha val="33000"/>
            </a:srgbClr>
          </a:solidFill>
          <a:ln>
            <a:gradFill>
              <a:gsLst>
                <a:gs pos="0">
                  <a:srgbClr val="6DB33F">
                    <a:alpha val="68000"/>
                  </a:srgbClr>
                </a:gs>
                <a:gs pos="37000">
                  <a:schemeClr val="accent1">
                    <a:lumMod val="45000"/>
                    <a:lumOff val="55000"/>
                    <a:alpha val="62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rgbClr val="6DB33F">
                    <a:alpha val="32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69210" y="385308"/>
            <a:ext cx="11750166" cy="9468605"/>
            <a:chOff x="0" y="0"/>
            <a:chExt cx="3094694" cy="24937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4694" cy="2493789"/>
            </a:xfrm>
            <a:custGeom>
              <a:avLst/>
              <a:gdLst/>
              <a:ahLst/>
              <a:cxnLst/>
              <a:rect l="l" t="t" r="r" b="b"/>
              <a:pathLst>
                <a:path w="3094694" h="2493789">
                  <a:moveTo>
                    <a:pt x="9883" y="0"/>
                  </a:moveTo>
                  <a:lnTo>
                    <a:pt x="3084811" y="0"/>
                  </a:lnTo>
                  <a:cubicBezTo>
                    <a:pt x="3090269" y="0"/>
                    <a:pt x="3094694" y="4425"/>
                    <a:pt x="3094694" y="9883"/>
                  </a:cubicBezTo>
                  <a:lnTo>
                    <a:pt x="3094694" y="2483906"/>
                  </a:lnTo>
                  <a:cubicBezTo>
                    <a:pt x="3094694" y="2489364"/>
                    <a:pt x="3090269" y="2493789"/>
                    <a:pt x="3084811" y="2493789"/>
                  </a:cubicBezTo>
                  <a:lnTo>
                    <a:pt x="9883" y="2493789"/>
                  </a:lnTo>
                  <a:cubicBezTo>
                    <a:pt x="4425" y="2493789"/>
                    <a:pt x="0" y="2489364"/>
                    <a:pt x="0" y="2483906"/>
                  </a:cubicBezTo>
                  <a:lnTo>
                    <a:pt x="0" y="9883"/>
                  </a:lnTo>
                  <a:cubicBezTo>
                    <a:pt x="0" y="4425"/>
                    <a:pt x="4425" y="0"/>
                    <a:pt x="98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94694" cy="2531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133620" y="5119611"/>
            <a:ext cx="1182134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8839200" y="385307"/>
            <a:ext cx="0" cy="9468605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1918372" y="4993690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18372" y="259387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793455" y="4993690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18372" y="9727992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2" y="0"/>
                </a:lnTo>
                <a:lnTo>
                  <a:pt x="251842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065349"/>
            <a:ext cx="436898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73"/>
              </a:lnSpc>
            </a:pPr>
            <a:r>
              <a:rPr lang="en-US" sz="5025" b="1" dirty="0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Tests &amp; validation</a:t>
            </a:r>
          </a:p>
        </p:txBody>
      </p:sp>
      <p:pic>
        <p:nvPicPr>
          <p:cNvPr id="3074" name="Picture 2" descr="ASP.NET Core Swagger UI Authorization using IdentityServer4">
            <a:extLst>
              <a:ext uri="{FF2B5EF4-FFF2-40B4-BE49-F238E27FC236}">
                <a16:creationId xmlns:a16="http://schemas.microsoft.com/office/drawing/2014/main" id="{CB596B04-B3B0-45F8-8BB9-A352148F2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400" y="1897955"/>
            <a:ext cx="70294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F5B21EA-7910-4F40-AF88-2E8D9EB3A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400" y="6369134"/>
            <a:ext cx="62484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1500B5D-A160-4B30-941D-C6891C15CC0E}"/>
              </a:ext>
            </a:extLst>
          </p:cNvPr>
          <p:cNvSpPr txBox="1"/>
          <p:nvPr/>
        </p:nvSpPr>
        <p:spPr>
          <a:xfrm>
            <a:off x="6458273" y="1746109"/>
            <a:ext cx="22550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Neue Montreal Medium" panose="020B0604020202020204" charset="0"/>
                <a:ea typeface="Times New Roman" panose="02020603050405020304" pitchFamily="18" charset="0"/>
              </a:rPr>
              <a:t>D</a:t>
            </a:r>
            <a:r>
              <a:rPr lang="fr-FR" sz="2400" dirty="0">
                <a:solidFill>
                  <a:schemeClr val="bg1"/>
                </a:solidFill>
                <a:effectLst/>
                <a:latin typeface="Neue Montreal Medium" panose="020B0604020202020204" charset="0"/>
                <a:ea typeface="Times New Roman" panose="02020603050405020304" pitchFamily="18" charset="0"/>
              </a:rPr>
              <a:t>ocumenter les API REST et faciliter leur consultation</a:t>
            </a:r>
            <a:endParaRPr lang="fr-FR" sz="2400" dirty="0">
              <a:solidFill>
                <a:schemeClr val="bg1"/>
              </a:solidFill>
              <a:latin typeface="Neue Montreal Medium" panose="020B060402020202020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D43E29A-FAC4-4D7B-A8DC-48E0154A2937}"/>
              </a:ext>
            </a:extLst>
          </p:cNvPr>
          <p:cNvSpPr txBox="1"/>
          <p:nvPr/>
        </p:nvSpPr>
        <p:spPr>
          <a:xfrm>
            <a:off x="6574158" y="6448331"/>
            <a:ext cx="1981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effectLst/>
                <a:latin typeface="Neue Montreal Medium" panose="020B0604020202020204" charset="0"/>
                <a:ea typeface="Times New Roman" panose="02020603050405020304" pitchFamily="18" charset="0"/>
              </a:rPr>
              <a:t>API REST développées dans le cadre du projet</a:t>
            </a:r>
            <a:endParaRPr lang="fr-FR" sz="2400" dirty="0">
              <a:solidFill>
                <a:schemeClr val="bg1"/>
              </a:solidFill>
              <a:latin typeface="Neue Montreal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088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206125D-435D-4BA1-8353-0D7610DA2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76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29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95605"/>
            <a:ext cx="7744001" cy="2430667"/>
            <a:chOff x="0" y="0"/>
            <a:chExt cx="2039572" cy="640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595605"/>
            <a:ext cx="7744001" cy="2430667"/>
            <a:chOff x="0" y="0"/>
            <a:chExt cx="2039572" cy="640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352955"/>
            <a:ext cx="7744001" cy="2430667"/>
            <a:chOff x="0" y="0"/>
            <a:chExt cx="2039572" cy="6401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6352955"/>
            <a:ext cx="7744001" cy="2430667"/>
            <a:chOff x="0" y="0"/>
            <a:chExt cx="2039572" cy="6401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72" cy="640176"/>
            </a:xfrm>
            <a:custGeom>
              <a:avLst/>
              <a:gdLst/>
              <a:ahLst/>
              <a:cxnLst/>
              <a:rect l="l" t="t" r="r" b="b"/>
              <a:pathLst>
                <a:path w="2039572" h="640176">
                  <a:moveTo>
                    <a:pt x="15996" y="0"/>
                  </a:moveTo>
                  <a:lnTo>
                    <a:pt x="2023576" y="0"/>
                  </a:lnTo>
                  <a:cubicBezTo>
                    <a:pt x="2032411" y="0"/>
                    <a:pt x="2039572" y="7162"/>
                    <a:pt x="2039572" y="15996"/>
                  </a:cubicBezTo>
                  <a:lnTo>
                    <a:pt x="2039572" y="624180"/>
                  </a:lnTo>
                  <a:cubicBezTo>
                    <a:pt x="2039572" y="633014"/>
                    <a:pt x="2032411" y="640176"/>
                    <a:pt x="2023576" y="640176"/>
                  </a:cubicBezTo>
                  <a:lnTo>
                    <a:pt x="15996" y="640176"/>
                  </a:lnTo>
                  <a:cubicBezTo>
                    <a:pt x="7162" y="640176"/>
                    <a:pt x="0" y="633014"/>
                    <a:pt x="0" y="624180"/>
                  </a:cubicBezTo>
                  <a:lnTo>
                    <a:pt x="0" y="15996"/>
                  </a:lnTo>
                  <a:cubicBezTo>
                    <a:pt x="0" y="7162"/>
                    <a:pt x="7162" y="0"/>
                    <a:pt x="159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39572" cy="67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84399"/>
            <a:ext cx="8426390" cy="8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512" b="1">
                <a:solidFill>
                  <a:srgbClr val="292626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Déploiement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78137" y="4387745"/>
            <a:ext cx="564512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73"/>
              </a:lnSpc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GitHub Actions </a:t>
            </a:r>
          </a:p>
          <a:p>
            <a:pPr marL="0" lvl="0" indent="0" algn="ctr">
              <a:lnSpc>
                <a:spcPts val="3273"/>
              </a:lnSpc>
            </a:pPr>
            <a:r>
              <a:rPr lang="en-US" sz="28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CI/CD </a:t>
            </a:r>
            <a:r>
              <a:rPr lang="en-US" sz="28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automatisé</a:t>
            </a:r>
            <a:endParaRPr lang="en-US" sz="28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75118" y="7101564"/>
            <a:ext cx="605116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73"/>
              </a:lnSpc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Nginx</a:t>
            </a:r>
            <a:r>
              <a:rPr lang="en-US" sz="28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 </a:t>
            </a:r>
          </a:p>
          <a:p>
            <a:pPr marL="0" lvl="0" indent="0" algn="ctr">
              <a:lnSpc>
                <a:spcPts val="3273"/>
              </a:lnSpc>
            </a:pPr>
            <a:r>
              <a:rPr lang="en-US" sz="28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Reverse proxy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14071" y="7101564"/>
            <a:ext cx="540385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Prometheus &amp; Grafana</a:t>
            </a:r>
          </a:p>
          <a:p>
            <a:pPr marL="0" lvl="0" indent="0" algn="ctr">
              <a:lnSpc>
                <a:spcPts val="3273"/>
              </a:lnSpc>
            </a:pPr>
            <a:r>
              <a:rPr lang="en-US" sz="2800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Supervision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71412" y="4344213"/>
            <a:ext cx="5089177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73"/>
              </a:lnSpc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Docker &amp; Docker Compose </a:t>
            </a:r>
            <a:r>
              <a:rPr lang="en-US" sz="2800" dirty="0" err="1">
                <a:solidFill>
                  <a:srgbClr val="FFFFFF"/>
                </a:solidFill>
                <a:latin typeface="Poppins" panose="00000500000000000000" pitchFamily="2" charset="0"/>
                <a:ea typeface="Questrial"/>
                <a:cs typeface="Poppins" panose="00000500000000000000" pitchFamily="2" charset="0"/>
                <a:sym typeface="Questrial"/>
              </a:rPr>
              <a:t>Conteneurisation</a:t>
            </a:r>
            <a:endParaRPr lang="en-US" sz="2800" dirty="0">
              <a:solidFill>
                <a:srgbClr val="FFFFFF"/>
              </a:solidFill>
              <a:latin typeface="Poppins" panose="00000500000000000000" pitchFamily="2" charset="0"/>
              <a:ea typeface="Questrial"/>
              <a:cs typeface="Poppins" panose="00000500000000000000" pitchFamily="2" charset="0"/>
              <a:sym typeface="Questrial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3F78266-A10C-433B-99BE-448465084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804" y="4184549"/>
            <a:ext cx="176466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FA8A1C6-B352-4E87-87DC-48883B0CA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172" y="4814381"/>
            <a:ext cx="1939925" cy="108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97C7622-280C-4003-8081-D6A1AF5D11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91" y="6619492"/>
            <a:ext cx="2265045" cy="93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5A57AF4-6D38-4C87-97A6-89C81D96BA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302" y="6519953"/>
            <a:ext cx="1788795" cy="79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13D32E2-E0E9-400C-86A0-8D982D6C8B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114" y="7897854"/>
            <a:ext cx="1590040" cy="795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982" y="388567"/>
            <a:ext cx="17526037" cy="9509865"/>
            <a:chOff x="0" y="0"/>
            <a:chExt cx="4615911" cy="2504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5911" cy="2504656"/>
            </a:xfrm>
            <a:custGeom>
              <a:avLst/>
              <a:gdLst/>
              <a:ahLst/>
              <a:cxnLst/>
              <a:rect l="l" t="t" r="r" b="b"/>
              <a:pathLst>
                <a:path w="4615911" h="2504656">
                  <a:moveTo>
                    <a:pt x="7068" y="0"/>
                  </a:moveTo>
                  <a:lnTo>
                    <a:pt x="4608843" y="0"/>
                  </a:lnTo>
                  <a:cubicBezTo>
                    <a:pt x="4612746" y="0"/>
                    <a:pt x="4615911" y="3164"/>
                    <a:pt x="4615911" y="7068"/>
                  </a:cubicBezTo>
                  <a:lnTo>
                    <a:pt x="4615911" y="2497588"/>
                  </a:lnTo>
                  <a:cubicBezTo>
                    <a:pt x="4615911" y="2501491"/>
                    <a:pt x="4612746" y="2504656"/>
                    <a:pt x="4608843" y="2504656"/>
                  </a:cubicBezTo>
                  <a:lnTo>
                    <a:pt x="7068" y="2504656"/>
                  </a:lnTo>
                  <a:cubicBezTo>
                    <a:pt x="3164" y="2504656"/>
                    <a:pt x="0" y="2501491"/>
                    <a:pt x="0" y="2497588"/>
                  </a:cubicBezTo>
                  <a:lnTo>
                    <a:pt x="0" y="7068"/>
                  </a:lnTo>
                  <a:cubicBezTo>
                    <a:pt x="0" y="3164"/>
                    <a:pt x="3164" y="0"/>
                    <a:pt x="70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5911" cy="254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80982" y="4830531"/>
            <a:ext cx="17526037" cy="2618689"/>
          </a:xfrm>
          <a:custGeom>
            <a:avLst/>
            <a:gdLst/>
            <a:ahLst/>
            <a:cxnLst/>
            <a:rect l="l" t="t" r="r" b="b"/>
            <a:pathLst>
              <a:path w="17526037" h="2618689">
                <a:moveTo>
                  <a:pt x="0" y="2618689"/>
                </a:moveTo>
                <a:quadBezTo>
                  <a:pt x="8756051" y="-2606953"/>
                  <a:pt x="17526036" y="2595270"/>
                </a:quadBezTo>
              </a:path>
            </a:pathLst>
          </a:custGeom>
          <a:ln w="19050" cap="flat">
            <a:gradFill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28700" y="5781029"/>
            <a:ext cx="4118778" cy="2763835"/>
            <a:chOff x="0" y="0"/>
            <a:chExt cx="1084781" cy="7279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84611" y="3476017"/>
            <a:ext cx="4118778" cy="2763835"/>
            <a:chOff x="0" y="0"/>
            <a:chExt cx="1084781" cy="7279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36964" y="4621858"/>
            <a:ext cx="4118778" cy="2763835"/>
            <a:chOff x="0" y="0"/>
            <a:chExt cx="1084781" cy="7279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1017724"/>
            <a:ext cx="1030494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2"/>
              </a:lnSpc>
            </a:pPr>
            <a:r>
              <a:rPr lang="en-US" sz="3613" b="1" dirty="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Architecture technique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6750" y="7743621"/>
            <a:ext cx="2662461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4102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Angular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7190" y="8819040"/>
            <a:ext cx="4521798" cy="25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9"/>
              </a:lnSpc>
            </a:pPr>
            <a:r>
              <a:rPr lang="en-US" sz="36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Interface </a:t>
            </a:r>
            <a:r>
              <a:rPr lang="en-US" sz="3600" dirty="0" err="1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utilisateur</a:t>
            </a:r>
            <a:endParaRPr lang="en-US" sz="3600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935454" y="7659869"/>
            <a:ext cx="4521798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32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Stockage et gestion des </a:t>
            </a:r>
            <a:r>
              <a:rPr lang="en-US" sz="3200" dirty="0" err="1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données</a:t>
            </a:r>
            <a:endParaRPr lang="en-US" sz="3200" dirty="0">
              <a:solidFill>
                <a:srgbClr val="292626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883101" y="6483201"/>
            <a:ext cx="4521798" cy="25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9"/>
              </a:lnSpc>
            </a:pPr>
            <a:r>
              <a:rPr lang="en-US" sz="36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Couche métier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41472" y="5395568"/>
            <a:ext cx="3205055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4102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Spring Boot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35454" y="6130803"/>
            <a:ext cx="4521798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7"/>
              </a:lnSpc>
            </a:pPr>
            <a:r>
              <a:rPr lang="en-US" sz="3600" dirty="0">
                <a:solidFill>
                  <a:srgbClr val="2926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PostgreSQL - Neon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Logo Angular PNG transparents - StickPNG">
            <a:extLst>
              <a:ext uri="{FF2B5EF4-FFF2-40B4-BE49-F238E27FC236}">
                <a16:creationId xmlns:a16="http://schemas.microsoft.com/office/drawing/2014/main" id="{6F416E2A-1C28-434C-9A54-EF1F116EF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930" y="6037737"/>
            <a:ext cx="1276102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ring-boot-logo - Atomrace">
            <a:extLst>
              <a:ext uri="{FF2B5EF4-FFF2-40B4-BE49-F238E27FC236}">
                <a16:creationId xmlns:a16="http://schemas.microsoft.com/office/drawing/2014/main" id="{00C168C2-8BC1-4AFB-82AF-0B7588875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307" y="3734887"/>
            <a:ext cx="2202942" cy="11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stgreSQL Icon SVG Vector &amp; PNG Free Download | UXWing">
            <a:extLst>
              <a:ext uri="{FF2B5EF4-FFF2-40B4-BE49-F238E27FC236}">
                <a16:creationId xmlns:a16="http://schemas.microsoft.com/office/drawing/2014/main" id="{EF0EF124-D617-408D-907F-9700B6854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7442" y="4742415"/>
            <a:ext cx="1147762" cy="118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3893070E-4F7C-4DE5-BF3E-199DF9F06C50}"/>
              </a:ext>
            </a:extLst>
          </p:cNvPr>
          <p:cNvSpPr/>
          <p:nvPr/>
        </p:nvSpPr>
        <p:spPr>
          <a:xfrm>
            <a:off x="4623492" y="3265368"/>
            <a:ext cx="2461118" cy="2185162"/>
          </a:xfrm>
          <a:prstGeom prst="arc">
            <a:avLst>
              <a:gd name="adj1" fmla="val 12651337"/>
              <a:gd name="adj2" fmla="val 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7" name="Picture 10" descr="Neon annonce le lancement d'une solution Postgres conviviale multicloud et entièrement gérée pour les développeurs">
            <a:extLst>
              <a:ext uri="{FF2B5EF4-FFF2-40B4-BE49-F238E27FC236}">
                <a16:creationId xmlns:a16="http://schemas.microsoft.com/office/drawing/2014/main" id="{083A6080-2535-4259-B666-987A9D3DC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9816" y="4782762"/>
            <a:ext cx="1526000" cy="80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6">
            <a:extLst>
              <a:ext uri="{FF2B5EF4-FFF2-40B4-BE49-F238E27FC236}">
                <a16:creationId xmlns:a16="http://schemas.microsoft.com/office/drawing/2014/main" id="{61EEC26C-0B5E-4604-9F14-780B1063D8D2}"/>
              </a:ext>
            </a:extLst>
          </p:cNvPr>
          <p:cNvGrpSpPr/>
          <p:nvPr/>
        </p:nvGrpSpPr>
        <p:grpSpPr>
          <a:xfrm>
            <a:off x="1212067" y="2088742"/>
            <a:ext cx="4118778" cy="2763835"/>
            <a:chOff x="0" y="0"/>
            <a:chExt cx="1084781" cy="727924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E4A46A6-F04C-49FE-82A4-ED31F1D6846E}"/>
                </a:ext>
              </a:extLst>
            </p:cNvPr>
            <p:cNvSpPr/>
            <p:nvPr/>
          </p:nvSpPr>
          <p:spPr>
            <a:xfrm>
              <a:off x="0" y="0"/>
              <a:ext cx="1084781" cy="727924"/>
            </a:xfrm>
            <a:custGeom>
              <a:avLst/>
              <a:gdLst/>
              <a:ahLst/>
              <a:cxnLst/>
              <a:rect l="l" t="t" r="r" b="b"/>
              <a:pathLst>
                <a:path w="1084781" h="727924">
                  <a:moveTo>
                    <a:pt x="39473" y="0"/>
                  </a:moveTo>
                  <a:lnTo>
                    <a:pt x="1045308" y="0"/>
                  </a:lnTo>
                  <a:cubicBezTo>
                    <a:pt x="1067108" y="0"/>
                    <a:pt x="1084781" y="17673"/>
                    <a:pt x="1084781" y="39473"/>
                  </a:cubicBezTo>
                  <a:lnTo>
                    <a:pt x="1084781" y="688451"/>
                  </a:lnTo>
                  <a:cubicBezTo>
                    <a:pt x="1084781" y="710251"/>
                    <a:pt x="1067108" y="727924"/>
                    <a:pt x="1045308" y="727924"/>
                  </a:cubicBezTo>
                  <a:lnTo>
                    <a:pt x="39473" y="727924"/>
                  </a:lnTo>
                  <a:cubicBezTo>
                    <a:pt x="17673" y="727924"/>
                    <a:pt x="0" y="710251"/>
                    <a:pt x="0" y="688451"/>
                  </a:cubicBezTo>
                  <a:lnTo>
                    <a:pt x="0" y="39473"/>
                  </a:lnTo>
                  <a:cubicBezTo>
                    <a:pt x="0" y="17673"/>
                    <a:pt x="17673" y="0"/>
                    <a:pt x="394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232227">
                      <a:alpha val="100000"/>
                    </a:srgbClr>
                  </a:gs>
                  <a:gs pos="33333">
                    <a:srgbClr val="253C49">
                      <a:alpha val="100000"/>
                    </a:srgbClr>
                  </a:gs>
                  <a:gs pos="66667">
                    <a:srgbClr val="415D6D">
                      <a:alpha val="100000"/>
                    </a:srgbClr>
                  </a:gs>
                  <a:gs pos="100000">
                    <a:srgbClr val="92ADB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EFEC9D8-FFCE-4C9E-94F8-0D4E5E7E5ED4}"/>
                </a:ext>
              </a:extLst>
            </p:cNvPr>
            <p:cNvSpPr txBox="1"/>
            <p:nvPr/>
          </p:nvSpPr>
          <p:spPr>
            <a:xfrm>
              <a:off x="0" y="-38100"/>
              <a:ext cx="1084781" cy="76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28" name="Picture 4" descr="Brand">
            <a:extLst>
              <a:ext uri="{FF2B5EF4-FFF2-40B4-BE49-F238E27FC236}">
                <a16:creationId xmlns:a16="http://schemas.microsoft.com/office/drawing/2014/main" id="{643CFEDF-9394-41B7-8C93-87639D245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85" y="2406384"/>
            <a:ext cx="1296411" cy="189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17">
            <a:extLst>
              <a:ext uri="{FF2B5EF4-FFF2-40B4-BE49-F238E27FC236}">
                <a16:creationId xmlns:a16="http://schemas.microsoft.com/office/drawing/2014/main" id="{EF6F9A9B-66E9-4DB2-AAA2-CDF2C135ED13}"/>
              </a:ext>
            </a:extLst>
          </p:cNvPr>
          <p:cNvSpPr txBox="1"/>
          <p:nvPr/>
        </p:nvSpPr>
        <p:spPr>
          <a:xfrm>
            <a:off x="733539" y="5137142"/>
            <a:ext cx="4521798" cy="25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9"/>
              </a:lnSpc>
            </a:pPr>
            <a:r>
              <a:rPr lang="en-US" sz="360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Interface </a:t>
            </a:r>
            <a:r>
              <a:rPr lang="en-US" sz="3600" dirty="0" err="1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utilisateur</a:t>
            </a:r>
            <a:endParaRPr lang="en-US" sz="3600" dirty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982" y="388567"/>
            <a:ext cx="17526037" cy="9509865"/>
            <a:chOff x="0" y="0"/>
            <a:chExt cx="4615911" cy="2504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5911" cy="2504656"/>
            </a:xfrm>
            <a:custGeom>
              <a:avLst/>
              <a:gdLst/>
              <a:ahLst/>
              <a:cxnLst/>
              <a:rect l="l" t="t" r="r" b="b"/>
              <a:pathLst>
                <a:path w="4615911" h="2504656">
                  <a:moveTo>
                    <a:pt x="7068" y="0"/>
                  </a:moveTo>
                  <a:lnTo>
                    <a:pt x="4608843" y="0"/>
                  </a:lnTo>
                  <a:cubicBezTo>
                    <a:pt x="4612746" y="0"/>
                    <a:pt x="4615911" y="3164"/>
                    <a:pt x="4615911" y="7068"/>
                  </a:cubicBezTo>
                  <a:lnTo>
                    <a:pt x="4615911" y="2497588"/>
                  </a:lnTo>
                  <a:cubicBezTo>
                    <a:pt x="4615911" y="2501491"/>
                    <a:pt x="4612746" y="2504656"/>
                    <a:pt x="4608843" y="2504656"/>
                  </a:cubicBezTo>
                  <a:lnTo>
                    <a:pt x="7068" y="2504656"/>
                  </a:lnTo>
                  <a:cubicBezTo>
                    <a:pt x="3164" y="2504656"/>
                    <a:pt x="0" y="2501491"/>
                    <a:pt x="0" y="2497588"/>
                  </a:cubicBezTo>
                  <a:lnTo>
                    <a:pt x="0" y="7068"/>
                  </a:lnTo>
                  <a:cubicBezTo>
                    <a:pt x="0" y="3164"/>
                    <a:pt x="3164" y="0"/>
                    <a:pt x="70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32227">
                    <a:alpha val="100000"/>
                  </a:srgbClr>
                </a:gs>
                <a:gs pos="33333">
                  <a:srgbClr val="253C49">
                    <a:alpha val="100000"/>
                  </a:srgbClr>
                </a:gs>
                <a:gs pos="66667">
                  <a:srgbClr val="415D6D">
                    <a:alpha val="100000"/>
                  </a:srgbClr>
                </a:gs>
                <a:gs pos="100000">
                  <a:srgbClr val="92ADB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5911" cy="254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17074" y="3635934"/>
            <a:ext cx="10588785" cy="332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87"/>
              </a:lnSpc>
            </a:pPr>
            <a:r>
              <a:rPr lang="en-US" sz="13355" b="1" spc="-333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Conclusion &amp;</a:t>
            </a:r>
          </a:p>
          <a:p>
            <a:pPr marL="0" lvl="0" indent="0" algn="l">
              <a:lnSpc>
                <a:spcPts val="12687"/>
              </a:lnSpc>
            </a:pPr>
            <a:r>
              <a:rPr lang="en-US" sz="13355" b="1" spc="-333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Perspectives</a:t>
            </a:r>
          </a:p>
        </p:txBody>
      </p:sp>
      <p:sp>
        <p:nvSpPr>
          <p:cNvPr id="6" name="AutoShape 6"/>
          <p:cNvSpPr/>
          <p:nvPr/>
        </p:nvSpPr>
        <p:spPr>
          <a:xfrm>
            <a:off x="902077" y="8460229"/>
            <a:ext cx="16483845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3188856" y="8988810"/>
            <a:ext cx="4096196" cy="28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2"/>
              </a:lnSpc>
            </a:pPr>
            <a:r>
              <a:rPr lang="en-US" sz="225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hello@orientautoservice.sn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7074" y="8988810"/>
            <a:ext cx="4044692" cy="28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2"/>
              </a:lnSpc>
            </a:pPr>
            <a:r>
              <a:rPr lang="en-US" sz="225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www.orientautoservice.sn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74745" y="8988810"/>
            <a:ext cx="2575768" cy="28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2"/>
              </a:lnSpc>
            </a:pPr>
            <a:r>
              <a:rPr lang="en-US" sz="225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@OrientAutoService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832974" y="1034226"/>
            <a:ext cx="1426326" cy="525958"/>
          </a:xfrm>
          <a:custGeom>
            <a:avLst/>
            <a:gdLst/>
            <a:ahLst/>
            <a:cxnLst/>
            <a:rect l="l" t="t" r="r" b="b"/>
            <a:pathLst>
              <a:path w="1426326" h="525958">
                <a:moveTo>
                  <a:pt x="0" y="0"/>
                </a:moveTo>
                <a:lnTo>
                  <a:pt x="1426326" y="0"/>
                </a:lnTo>
                <a:lnTo>
                  <a:pt x="1426326" y="525957"/>
                </a:lnTo>
                <a:lnTo>
                  <a:pt x="0" y="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428</Words>
  <Application>Microsoft Office PowerPoint</Application>
  <PresentationFormat>Personnalisé</PresentationFormat>
  <Paragraphs>115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Poppins</vt:lpstr>
      <vt:lpstr>Neue Montreal</vt:lpstr>
      <vt:lpstr>Questrial</vt:lpstr>
      <vt:lpstr>Neue Montreal Medium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Développement OAS Web et Billing</dc:title>
  <cp:lastModifiedBy>Ousman Sadjo</cp:lastModifiedBy>
  <cp:revision>26</cp:revision>
  <dcterms:created xsi:type="dcterms:W3CDTF">2006-08-16T00:00:00Z</dcterms:created>
  <dcterms:modified xsi:type="dcterms:W3CDTF">2026-06-22T12:59:26Z</dcterms:modified>
  <dc:identifier>DAHNSv5_r9A</dc:identifier>
</cp:coreProperties>
</file>